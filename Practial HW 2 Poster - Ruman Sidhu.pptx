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43891200"/>
  <p:notesSz cx="43891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6213E"/>
                </a:solidFill>
                <a:latin typeface="Arial"/>
              </a:defRPr>
            </a:pPr>
            <a:r>
              <a:rPr sz="3000" b="0" i="0" u="none" strike="noStrike">
                <a:solidFill>
                  <a:srgbClr val="16213E"/>
                </a:solidFill>
                <a:latin typeface="Arial"/>
              </a:rPr>
              <a:t>AUC-ROC by Kernel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3348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(0.825)</c:v>
                  </c:pt>
                  <c:pt idx="1">
                    <c:v>Polynomial (0.811)</c:v>
                  </c:pt>
                  <c:pt idx="2">
                    <c:v>Radial (0.782)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0.825</c:v>
                </c:pt>
                <c:pt idx="1">
                  <c:v>0.811</c:v>
                </c:pt>
                <c:pt idx="2">
                  <c:v>0.782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26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6"/>
          <c:min val="0.7"/>
        </c:scaling>
        <c:delete val="0"/>
        <c:axPos val="l"/>
        <c:majorGridlines>
          <c:spPr>
            <a:ln w="6350" cap="flat">
              <a:solidFill>
                <a:srgbClr val="DD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6213E"/>
                </a:solidFill>
                <a:latin typeface="Arial"/>
              </a:defRPr>
            </a:pPr>
            <a:r>
              <a:rPr sz="3000" b="0" i="0" u="none" strike="noStrike">
                <a:solidFill>
                  <a:srgbClr val="16213E"/>
                </a:solidFill>
                <a:latin typeface="Arial"/>
              </a:rPr>
              <a:t>Sensitivity (Heart Disease Recall)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3348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(84.0%)</c:v>
                  </c:pt>
                  <c:pt idx="1">
                    <c:v>Polynomial (71.6%)</c:v>
                  </c:pt>
                  <c:pt idx="2">
                    <c:v>Radial (69.6%)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0.716</c:v>
                </c:pt>
                <c:pt idx="2">
                  <c:v>0.696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26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6350" cap="flat">
              <a:solidFill>
                <a:srgbClr val="DD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4754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32918400" cy="274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3182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Coronary Heart Disease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182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Health Behaviors and Demographics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182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 |  Ruman Sidhu  |  DATA 5322 – Statistical Machine Learning II  |  Spring 2026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3182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2022 Dataset  |  n = 23,954 adults  |  GitHub: github.com/simplyyweirdd3/DATA5322-PracticalHW2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9875520" cy="1298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5029200"/>
            <a:ext cx="987552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0292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Research Question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240" y="5897880"/>
            <a:ext cx="9418320" cy="1197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
</a:t>
            </a:r>
            <a:pPr indent="0" marL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whether an adult has been diagnosed with coronary heart disease using demographic characteristics and lifestyle habits?
</a:t>
            </a:r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
</a:t>
            </a:r>
            <a:pPr indent="0" marL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Interview Survey (NHIS) 2022, accessed via IPUMS Health Surveys. Restricted to 27,651 sample adults (ASTATFLG = 1).
</a:t>
            </a:r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
</a:t>
            </a:r>
            <a:pPr indent="0" marL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CHEARTDIEV — "Ever told by a doctor you have coronary heart disease?"  (Binary: Yes / No)
</a:t>
            </a:r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
</a:t>
            </a:r>
            <a:pPr indent="0" marL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6.3% of adults have a positive diagnosis. A naive model predicting "No" always achieves 94% accuracy — a meaningless result. Class weights (inverse frequency) penalize the minority class to force the models to actually learn.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1155680" y="5029200"/>
            <a:ext cx="9875520" cy="1298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55680" y="5029200"/>
            <a:ext cx="987552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0" y="50292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Background: SVM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1384280" y="5897880"/>
            <a:ext cx="9418320" cy="1197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SVM finds the maximum-margin hyperplane that separates classes. The margin is the gap between the hyperplane and the nearest training points (support vectors). Wider margin = better generalization.
</a:t>
            </a:r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β₀ + Σᵢ αᵢ K(xᵢ, x)  — predict class by sign of f(x)
Only support vectors (αᵢ &gt; 0) influence the boundary.
</a:t>
            </a:r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
</a:t>
            </a:r>
            <a:pPr indent="0" marL="0">
              <a:buNone/>
            </a:pPr>
            <a:r>
              <a:rPr lang="en-US" sz="24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Linear:      K(x,x') = xᵀx'
Radial:      K(x,x') = exp(–γ‖x–x'‖²)
Polynomial:  K(x,x') = (1 + xᵀx')ᵈ
</a:t>
            </a:r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Parameters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(cost): trade-off between margin width and training errors. High C = tight fit, higher overfitting risk.
γ (gamma): locality of influence (radial kernel). Small γ = broad influence.
d (degree): polynomial complexity. d = 3 captures cubic interactions.
</a:t>
            </a:r>
            <a:pPr indent="0" marL="0">
              <a:buNone/>
            </a:pPr>
            <a:r>
              <a:rPr lang="en-US" sz="2400" i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hyperparameters tuned via 5-fold cross-validation.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1762720" y="5029200"/>
            <a:ext cx="9875520" cy="1298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762720" y="5029200"/>
            <a:ext cx="9875520" cy="68580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0" y="50292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1991320" y="5897880"/>
            <a:ext cx="9418320" cy="1197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(8 variables)
</a:t>
            </a:r>
            <a:pPr indent="0" marL="0">
              <a:buNone/>
            </a:pPr>
            <a:r>
              <a:rPr lang="en-US" sz="2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
</a:t>
            </a:r>
            <a:pPr indent="0" marL="0">
              <a:buNone/>
            </a:pPr>
            <a:r>
              <a:rPr lang="en-US" sz="24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 (years), Sex (M/F), Poverty group
</a:t>
            </a:r>
            <a:pPr indent="0" marL="0">
              <a:buNone/>
            </a:pPr>
            <a:r>
              <a:rPr lang="en-US" sz="2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metrics:
</a:t>
            </a:r>
            <a:pPr indent="0" marL="0">
              <a:buNone/>
            </a:pPr>
            <a:r>
              <a:rPr lang="en-US" sz="24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BMI (calculated)
</a:t>
            </a:r>
            <a:pPr indent="0" marL="0">
              <a:buNone/>
            </a:pPr>
            <a:r>
              <a:rPr lang="en-US" sz="2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habits:
</a:t>
            </a:r>
            <a:pPr indent="0" marL="0">
              <a:buNone/>
            </a:pPr>
            <a:r>
              <a:rPr lang="en-US" sz="24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Sleep hours, Moderate activity (min), Alcohol days/yr, Fried food freq.
</a:t>
            </a:r>
            <a:pPr indent="0" marL="0">
              <a:buNone/>
            </a:pPr>
            <a:r>
              <a:rPr lang="en-US" sz="28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Codebook-defined invalid codes (Unknown, Refused, NIU) converted to NA. SEX and POVERTY recoded to meaningful factor levels. All rows with any NA dropped. Final: 23,954 clean rows.
</a:t>
            </a:r>
            <a:pPr indent="0" marL="0">
              <a:buNone/>
            </a:pPr>
            <a:r>
              <a:rPr lang="en-US" sz="28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30% test (stratified). Training set downsampled to 3,001 rows for tuning speed. Test set: 7,185 rows. Class weights applied in all models to handle imbalance (weight Yes = 14.88×).
</a:t>
            </a:r>
            <a:pPr indent="0" marL="0">
              <a:buNone/>
            </a:pPr>
            <a:r>
              <a:rPr lang="en-US" sz="28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Sensitivity (recall for Yes — the clinically critical metric), Specificity, AUC-ROC.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48640" y="18562320"/>
            <a:ext cx="20848320" cy="1234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18562320"/>
            <a:ext cx="2084832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8562320"/>
            <a:ext cx="2048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476720"/>
          <a:ext cx="20391120" cy="3108960"/>
        </p:xfrm>
        <a:graphic>
          <a:graphicData uri="http://schemas.openxmlformats.org/drawingml/2006/table">
            <a:tbl>
              <a:tblPr/>
              <a:tblGrid>
                <a:gridCol w="2913017"/>
                <a:gridCol w="2913017"/>
                <a:gridCol w="2913017"/>
                <a:gridCol w="2913017"/>
                <a:gridCol w="2913017"/>
                <a:gridCol w="2913017"/>
                <a:gridCol w="2913017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Kernel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Best C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Other Param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Specificity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0F3460"/>
                          </a:solidFill>
                        </a:rPr>
                        <a:t>Linear ★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0F3460"/>
                          </a:solidFill>
                        </a:rPr>
                        <a:t>1.0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0F3460"/>
                          </a:solidFill>
                        </a:rPr>
                        <a:t>—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0F3460"/>
                          </a:solidFill>
                        </a:rPr>
                        <a:t>68.8%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94560"/>
                          </a:solidFill>
                        </a:rPr>
                        <a:t>84.0% ★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0F3460"/>
                          </a:solidFill>
                        </a:rPr>
                        <a:t>67.8%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94560"/>
                          </a:solidFill>
                        </a:rPr>
                        <a:t>0.825 ★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Radial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10.0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γ = 0.1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75.4%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69.6%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75.8%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0.782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Polynomial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0.1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d = 3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75.9%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71.6%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76.2%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6213E"/>
                          </a:solidFill>
                        </a:rPr>
                        <a:t>0.811</a:t>
                      </a:r>
                      <a:endParaRPr lang="en-US" sz="2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77240" y="22722840"/>
            <a:ext cx="2039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in category   |   Sensitivity = recall for heart disease cases (most clinically important metric)</a:t>
            </a:r>
            <a:endParaRPr lang="en-US" sz="2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777240" y="23408640"/>
          <a:ext cx="9875520" cy="594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11521440" y="23408640"/>
          <a:ext cx="9418320" cy="594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Shape 22"/>
          <p:cNvSpPr/>
          <p:nvPr/>
        </p:nvSpPr>
        <p:spPr>
          <a:xfrm>
            <a:off x="22128480" y="18562320"/>
            <a:ext cx="10607040" cy="1234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2128480" y="18562320"/>
            <a:ext cx="1060704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2311360" y="18562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Decision Boundary</a:t>
            </a:r>
            <a:endParaRPr lang="en-US" sz="3200" dirty="0"/>
          </a:p>
        </p:txBody>
      </p:sp>
      <p:sp>
        <p:nvSpPr>
          <p:cNvPr id="30" name="Shape 25"/>
          <p:cNvSpPr/>
          <p:nvPr/>
        </p:nvSpPr>
        <p:spPr>
          <a:xfrm>
            <a:off x="22402800" y="19476720"/>
            <a:ext cx="10058400" cy="8412480"/>
          </a:xfrm>
          <a:prstGeom prst="rect">
            <a:avLst/>
          </a:prstGeom>
          <a:solidFill>
            <a:srgbClr val="F0F4FF"/>
          </a:solidFill>
          <a:ln w="6350">
            <a:solidFill>
              <a:srgbClr val="DDE1E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3042880" y="27340560"/>
            <a:ext cx="9235440" cy="0"/>
          </a:xfrm>
          <a:prstGeom prst="line">
            <a:avLst/>
          </a:prstGeom>
          <a:noFill/>
          <a:ln w="25400">
            <a:solidFill>
              <a:srgbClr val="16213E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3042880" y="19751040"/>
            <a:ext cx="0" cy="7589520"/>
          </a:xfrm>
          <a:prstGeom prst="line">
            <a:avLst/>
          </a:prstGeom>
          <a:noFill/>
          <a:ln w="25400">
            <a:solidFill>
              <a:srgbClr val="16213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3042880" y="2738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(years)  →</a:t>
            </a:r>
            <a:endParaRPr lang="en-US" sz="2200" dirty="0"/>
          </a:p>
        </p:txBody>
      </p:sp>
      <p:sp>
        <p:nvSpPr>
          <p:cNvPr id="34" name="Text 29"/>
          <p:cNvSpPr/>
          <p:nvPr/>
        </p:nvSpPr>
        <p:spPr>
          <a:xfrm rot="16200000">
            <a:off x="22402800" y="19751040"/>
            <a:ext cx="594360" cy="7589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 →</a:t>
            </a:r>
            <a:endParaRPr lang="en-US" sz="2200" dirty="0"/>
          </a:p>
        </p:txBody>
      </p:sp>
      <p:sp>
        <p:nvSpPr>
          <p:cNvPr id="35" name="Shape 30"/>
          <p:cNvSpPr/>
          <p:nvPr/>
        </p:nvSpPr>
        <p:spPr>
          <a:xfrm>
            <a:off x="23042880" y="19751040"/>
            <a:ext cx="9235440" cy="7589520"/>
          </a:xfrm>
          <a:prstGeom prst="rect">
            <a:avLst/>
          </a:prstGeom>
          <a:solidFill>
            <a:srgbClr val="D0E8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7198828" y="19751040"/>
            <a:ext cx="5079492" cy="4553712"/>
          </a:xfrm>
          <a:prstGeom prst="rect">
            <a:avLst/>
          </a:prstGeom>
          <a:solidFill>
            <a:srgbClr val="FFD6DC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24428196" y="26202132"/>
            <a:ext cx="3232404" cy="-379476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27660600" y="22407372"/>
            <a:ext cx="3232404" cy="-189738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24291036" y="25836372"/>
            <a:ext cx="3232404" cy="-379476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40" name="Shape 35"/>
          <p:cNvSpPr/>
          <p:nvPr/>
        </p:nvSpPr>
        <p:spPr>
          <a:xfrm>
            <a:off x="27569160" y="22041612"/>
            <a:ext cx="3232404" cy="-18973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41" name="Shape 36"/>
          <p:cNvSpPr/>
          <p:nvPr/>
        </p:nvSpPr>
        <p:spPr>
          <a:xfrm>
            <a:off x="24565356" y="26567892"/>
            <a:ext cx="3232404" cy="-379476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42" name="Shape 37"/>
          <p:cNvSpPr/>
          <p:nvPr/>
        </p:nvSpPr>
        <p:spPr>
          <a:xfrm>
            <a:off x="27752040" y="22773132"/>
            <a:ext cx="3232404" cy="-18973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43" name="Shape 38"/>
          <p:cNvSpPr/>
          <p:nvPr/>
        </p:nvSpPr>
        <p:spPr>
          <a:xfrm>
            <a:off x="24309324" y="25324308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4955805" y="24185880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24032261" y="26310946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25232868" y="25703784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23662843" y="24565356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25694640" y="24944832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4586387" y="23806404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6156412" y="24337670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5509931" y="23047452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24771096" y="26462736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26433475" y="23426928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23847552" y="25096622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26802893" y="24793042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25879349" y="26083260"/>
            <a:ext cx="237744" cy="237744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28474416" y="20779740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29582669" y="21311006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30783276" y="20248474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29213251" y="21918168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30136795" y="21007426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28012644" y="21538692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31245048" y="21159216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28936188" y="20552054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30321504" y="22297644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29859732" y="20248474"/>
            <a:ext cx="22860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26905306" y="22737470"/>
            <a:ext cx="402336" cy="402336"/>
          </a:xfrm>
          <a:prstGeom prst="ellipse">
            <a:avLst/>
          </a:prstGeom>
          <a:solidFill>
            <a:srgbClr val="FFCC00"/>
          </a:solidFill>
          <a:ln w="31750">
            <a:solidFill>
              <a:srgbClr val="FFAA00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27090014" y="23724108"/>
            <a:ext cx="402336" cy="402336"/>
          </a:xfrm>
          <a:prstGeom prst="ellipse">
            <a:avLst/>
          </a:prstGeom>
          <a:solidFill>
            <a:srgbClr val="FFCC00"/>
          </a:solidFill>
          <a:ln w="31750">
            <a:solidFill>
              <a:srgbClr val="FFAA00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27644141" y="21674938"/>
            <a:ext cx="402336" cy="402336"/>
          </a:xfrm>
          <a:prstGeom prst="ellipse">
            <a:avLst/>
          </a:prstGeom>
          <a:solidFill>
            <a:srgbClr val="FFCC00"/>
          </a:solidFill>
          <a:ln w="31750">
            <a:solidFill>
              <a:srgbClr val="FFAA00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23088600" y="19842480"/>
            <a:ext cx="3200400" cy="4572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Heart Disease</a:t>
            </a:r>
            <a:endParaRPr lang="en-US" sz="2200" dirty="0"/>
          </a:p>
        </p:txBody>
      </p:sp>
      <p:sp>
        <p:nvSpPr>
          <p:cNvPr id="71" name="Text 66"/>
          <p:cNvSpPr/>
          <p:nvPr/>
        </p:nvSpPr>
        <p:spPr>
          <a:xfrm>
            <a:off x="28803600" y="26791920"/>
            <a:ext cx="3200400" cy="4572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2200" dirty="0"/>
          </a:p>
        </p:txBody>
      </p:sp>
      <p:sp>
        <p:nvSpPr>
          <p:cNvPr id="72" name="Shape 67"/>
          <p:cNvSpPr/>
          <p:nvPr/>
        </p:nvSpPr>
        <p:spPr>
          <a:xfrm>
            <a:off x="22860000" y="28145232"/>
            <a:ext cx="274320" cy="2743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23180040" y="28072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HD</a:t>
            </a:r>
            <a:endParaRPr lang="en-US" sz="2200" dirty="0"/>
          </a:p>
        </p:txBody>
      </p:sp>
      <p:sp>
        <p:nvSpPr>
          <p:cNvPr id="74" name="Shape 69"/>
          <p:cNvSpPr/>
          <p:nvPr/>
        </p:nvSpPr>
        <p:spPr>
          <a:xfrm>
            <a:off x="25420320" y="28145232"/>
            <a:ext cx="256032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25786080" y="28072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HD</a:t>
            </a:r>
            <a:endParaRPr lang="en-US" sz="2200" dirty="0"/>
          </a:p>
        </p:txBody>
      </p:sp>
      <p:sp>
        <p:nvSpPr>
          <p:cNvPr id="76" name="Shape 71"/>
          <p:cNvSpPr/>
          <p:nvPr/>
        </p:nvSpPr>
        <p:spPr>
          <a:xfrm>
            <a:off x="28346400" y="28126944"/>
            <a:ext cx="310896" cy="310896"/>
          </a:xfrm>
          <a:prstGeom prst="ellipse">
            <a:avLst/>
          </a:prstGeom>
          <a:solidFill>
            <a:srgbClr val="FFCC00"/>
          </a:solidFill>
          <a:ln w="25400">
            <a:solidFill>
              <a:srgbClr val="FFAA00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28712160" y="28072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</a:t>
            </a:r>
            <a:endParaRPr lang="en-US" sz="2200" dirty="0"/>
          </a:p>
        </p:txBody>
      </p:sp>
      <p:sp>
        <p:nvSpPr>
          <p:cNvPr id="78" name="Text 73"/>
          <p:cNvSpPr/>
          <p:nvPr/>
        </p:nvSpPr>
        <p:spPr>
          <a:xfrm>
            <a:off x="22402800" y="28529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kernel | Age (x-axis) vs BMI (y-axis)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(solid) + margin (dashed)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training data</a:t>
            </a:r>
            <a:endParaRPr lang="en-US" sz="2000" dirty="0"/>
          </a:p>
        </p:txBody>
      </p:sp>
      <p:sp>
        <p:nvSpPr>
          <p:cNvPr id="79" name="Shape 74"/>
          <p:cNvSpPr/>
          <p:nvPr/>
        </p:nvSpPr>
        <p:spPr>
          <a:xfrm>
            <a:off x="548640" y="31455360"/>
            <a:ext cx="19659600" cy="1005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0" name="Shape 75"/>
          <p:cNvSpPr/>
          <p:nvPr/>
        </p:nvSpPr>
        <p:spPr>
          <a:xfrm>
            <a:off x="548640" y="31455360"/>
            <a:ext cx="19659600" cy="685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731520" y="31455360"/>
            <a:ext cx="1929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82" name="Text 77"/>
          <p:cNvSpPr/>
          <p:nvPr/>
        </p:nvSpPr>
        <p:spPr>
          <a:xfrm>
            <a:off x="777240" y="32324040"/>
            <a:ext cx="19202400" cy="905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Predictor: Age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single strongest predictor. The decision boundary plot shows that older individuals are overwhelmingly classified as higher risk, consistent with the well-established epidemiology of heart disease accumulating over decades.
</a:t>
            </a:r>
            <a:pPr indent="0" marL="0">
              <a:buNone/>
            </a:pPr>
            <a:r>
              <a:rPr lang="en-US" sz="2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and Lifestyle Variables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contributes meaningful secondary separation, especially at elevated values. Sleep duration and moderate physical activity showed behavioral signal: lower sleep and zero activity correlate with higher disease rates. Alcohol days showed a weak, U-shaped relationship — moderate consumption is not associated with elevated risk, but heavy drinking is.
</a:t>
            </a:r>
            <a:pPr indent="0" marL="0">
              <a:buNone/>
            </a:pPr>
            <a:r>
              <a:rPr lang="en-US" sz="2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Context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below the poverty line show higher heart disease rates in this sample, likely reflecting compounded risks: reduced healthcare access, elevated stress, and poorer diet quality. This suggests lifestyle-focused interventions must also address structural barriers.
</a:t>
            </a:r>
            <a:pPr indent="0" marL="0">
              <a:buNone/>
            </a:pPr>
            <a:r>
              <a:rPr lang="en-US" sz="2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is a cross-sectional self-report survey. The target variable ("ever told by doctor") is subject to detection bias — undiagnosed cases appear as negatives. SAMPWEIGHT was not applied, so results are not nationally representative.</a:t>
            </a:r>
            <a:endParaRPr lang="en-US" sz="2700" dirty="0"/>
          </a:p>
        </p:txBody>
      </p:sp>
      <p:sp>
        <p:nvSpPr>
          <p:cNvPr id="83" name="Shape 78"/>
          <p:cNvSpPr/>
          <p:nvPr/>
        </p:nvSpPr>
        <p:spPr>
          <a:xfrm>
            <a:off x="20939760" y="31455360"/>
            <a:ext cx="11430000" cy="1005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4" name="Shape 79"/>
          <p:cNvSpPr/>
          <p:nvPr/>
        </p:nvSpPr>
        <p:spPr>
          <a:xfrm>
            <a:off x="20939760" y="31455360"/>
            <a:ext cx="1143000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21122640" y="31455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86" name="Shape 81"/>
          <p:cNvSpPr/>
          <p:nvPr/>
        </p:nvSpPr>
        <p:spPr>
          <a:xfrm>
            <a:off x="21168360" y="32369760"/>
            <a:ext cx="10972800" cy="2560320"/>
          </a:xfrm>
          <a:prstGeom prst="rect">
            <a:avLst/>
          </a:prstGeom>
          <a:solidFill>
            <a:srgbClr val="E8F0FD"/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21305520" y="32461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Linear SVM Wins</a:t>
            </a:r>
            <a:endParaRPr lang="en-US" sz="3200" dirty="0"/>
          </a:p>
        </p:txBody>
      </p:sp>
      <p:sp>
        <p:nvSpPr>
          <p:cNvPr id="88" name="Text 83"/>
          <p:cNvSpPr/>
          <p:nvPr/>
        </p:nvSpPr>
        <p:spPr>
          <a:xfrm>
            <a:off x="21305520" y="3314700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AUC: 0.825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Sensitivity: 84.0%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flags 84% of true HD cases</a:t>
            </a:r>
            <a:endParaRPr lang="en-US" sz="2600" dirty="0"/>
          </a:p>
        </p:txBody>
      </p:sp>
      <p:sp>
        <p:nvSpPr>
          <p:cNvPr id="89" name="Text 84"/>
          <p:cNvSpPr/>
          <p:nvPr/>
        </p:nvSpPr>
        <p:spPr>
          <a:xfrm>
            <a:off x="21168360" y="35158680"/>
            <a:ext cx="109728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largely linear AUC ranking (Linear &gt; Poly &gt; Radial) suggests heart disease risk in this feature space follows a roughly linear boundary — complex kernels do not improve predictive power meaningfully.
</a:t>
            </a:r>
            <a:pPr indent="0" marL="0">
              <a:buNone/>
            </a:pPr>
            <a:r>
              <a:rPr lang="en-US" sz="27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
</a:t>
            </a:r>
            <a:pPr indent="0" marL="0">
              <a:buNone/>
            </a:pPr>
            <a:r>
              <a:rPr lang="en-US" sz="2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variables (sleep, activity, diet) add predictive signal above and beyond demographics alone. Interventions targeting physical activity and sleep hygiene — especially among lower-income adults — could meaningfully reduce population-level heart disease burden.</a:t>
            </a:r>
            <a:endParaRPr lang="en-US" sz="2500" dirty="0"/>
          </a:p>
        </p:txBody>
      </p:sp>
      <p:sp>
        <p:nvSpPr>
          <p:cNvPr id="90" name="Shape 85"/>
          <p:cNvSpPr/>
          <p:nvPr/>
        </p:nvSpPr>
        <p:spPr>
          <a:xfrm>
            <a:off x="0" y="42062400"/>
            <a:ext cx="329184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457200" y="42108120"/>
            <a:ext cx="3200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Lynn A. Blewett, Julia A. Rivera Drew, Miriam L. King, Kari C.W. Williams, Daniel Backman, Annie Chen, and Stephanie Richards. IPUMS Health Surveys: National Health Interview Survey, Version 7.4 [dataset]. Minneapolis, MN: IPUMS, 2024. https://doi.org/10.18128/D070.V7.4 | http://www.nhis.ipums.org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2026-04-26T15:55:20Z</dcterms:created>
  <dcterms:modified xsi:type="dcterms:W3CDTF">2026-04-26T15:55:20Z</dcterms:modified>
</cp:coreProperties>
</file>